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7ba86ec-b4af-964a-0875-1ef3bb50a81d}">
          <p14:sldIdLst>
            <p14:sldId id="256"/>
            <p14:sldId id="257"/>
          </p14:sldIdLst>
        </p14:section>
        <p14:section name="Plan" id="{d8941790-03e2-e6ad-4b6b-29601304224c}">
          <p14:sldIdLst>
            <p14:sldId id="258"/>
            <p14:sldId id="259"/>
          </p14:sldIdLst>
        </p14:section>
        <p14:section name="Scope" id="{0921ace4-a167-b392-fff9-7622c73c00a3}">
          <p14:sldIdLst>
            <p14:sldId id="260"/>
            <p14:sldId id="261"/>
            <p14:sldId id="262"/>
          </p14:sldIdLst>
        </p14:section>
        <p14:section name="Delivery" id="{9fc9ad57-9d98-7afa-bb3c-91fa0bb60c05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34D399"/>
            </a:solidFill>
            <a:ln w="38100" cap="flat">
              <a:solidFill>
                <a:srgbClr val="34D399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100</c:v>
                </c:pt>
                <c:pt idx="1">
                  <c:v>102</c:v>
                </c:pt>
                <c:pt idx="2">
                  <c:v>101</c:v>
                </c:pt>
                <c:pt idx="3">
                  <c:v>105</c:v>
                </c:pt>
                <c:pt idx="4">
                  <c:v>104</c:v>
                </c:pt>
                <c:pt idx="5">
                  <c:v>108</c:v>
                </c:pt>
                <c:pt idx="6">
                  <c:v>107</c:v>
                </c:pt>
                <c:pt idx="7">
                  <c:v>111</c:v>
                </c:pt>
                <c:pt idx="8">
                  <c:v>110</c:v>
                </c:pt>
                <c:pt idx="9">
                  <c:v>113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113</c:v>
                </c:pt>
                <c:pt idx="10">
                  <c:v>115</c:v>
                </c:pt>
                <c:pt idx="11">
                  <c:v>117</c:v>
                </c:pt>
                <c:pt idx="12">
                  <c:v>119</c:v>
                </c:pt>
                <c:pt idx="13">
                  <c:v>121</c:v>
                </c:pt>
                <c:pt idx="14">
                  <c:v>124</c:v>
                </c:pt>
                <c:pt idx="15">
                  <c:v>126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price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100</c:v>
                </c:pt>
                <c:pt idx="1">
                  <c:v>102</c:v>
                </c:pt>
                <c:pt idx="2">
                  <c:v>101</c:v>
                </c:pt>
                <c:pt idx="3">
                  <c:v>105</c:v>
                </c:pt>
                <c:pt idx="4">
                  <c:v>104</c:v>
                </c:pt>
                <c:pt idx="5">
                  <c:v>108</c:v>
                </c:pt>
                <c:pt idx="6">
                  <c:v>107</c:v>
                </c:pt>
                <c:pt idx="7">
                  <c:v>111</c:v>
                </c:pt>
                <c:pt idx="8">
                  <c:v>110</c:v>
                </c:pt>
                <c:pt idx="9">
                  <c:v>113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113</c:v>
                </c:pt>
                <c:pt idx="10">
                  <c:v>115</c:v>
                </c:pt>
                <c:pt idx="11">
                  <c:v>117</c:v>
                </c:pt>
                <c:pt idx="12">
                  <c:v>119</c:v>
                </c:pt>
                <c:pt idx="13">
                  <c:v>121</c:v>
                </c:pt>
                <c:pt idx="14">
                  <c:v>124</c:v>
                </c:pt>
                <c:pt idx="15">
                  <c:v>126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95% bound</c:v>
                </c:pt>
              </c:strCache>
            </c:strRef>
          </c:tx>
          <c:spPr>
            <a:solidFill>
              <a:srgbClr val="8DA2BF"/>
            </a:solidFill>
            <a:ln w="31750" cap="flat">
              <a:solidFill>
                <a:srgbClr val="8DA2BF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A2BF"/>
              </a:solidFill>
              <a:ln w="9525" cap="flat">
                <a:solidFill>
                  <a:srgbClr val="8DA2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113</c:v>
                </c:pt>
                <c:pt idx="10">
                  <c:v>117</c:v>
                </c:pt>
                <c:pt idx="11">
                  <c:v>120</c:v>
                </c:pt>
                <c:pt idx="12">
                  <c:v>123</c:v>
                </c:pt>
                <c:pt idx="13">
                  <c:v>127</c:v>
                </c:pt>
                <c:pt idx="14">
                  <c:v>131</c:v>
                </c:pt>
                <c:pt idx="15">
                  <c:v>135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95% bound</c:v>
                </c:pt>
              </c:strCache>
            </c:strRef>
          </c:tx>
          <c:spPr>
            <a:solidFill>
              <a:srgbClr val="8DA2BF"/>
            </a:solidFill>
            <a:ln w="31750" cap="flat">
              <a:solidFill>
                <a:srgbClr val="8DA2BF"/>
              </a:solidFill>
              <a:prstDash val="solid,dash,sysDot,sysDot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A2BF"/>
              </a:solidFill>
              <a:ln w="9525" cap="flat">
                <a:solidFill>
                  <a:srgbClr val="8DA2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</c:lvl>
              </c:multiLvlStrCache>
            </c:multiLvl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113</c:v>
                </c:pt>
                <c:pt idx="10">
                  <c:v>113</c:v>
                </c:pt>
                <c:pt idx="11">
                  <c:v>114</c:v>
                </c:pt>
                <c:pt idx="12">
                  <c:v>115</c:v>
                </c:pt>
                <c:pt idx="13">
                  <c:v>116</c:v>
                </c:pt>
                <c:pt idx="14">
                  <c:v>117</c:v>
                </c:pt>
                <c:pt idx="15">
                  <c:v>118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A2B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5"/>
        </c:scaling>
        <c:delete val="0"/>
        <c:axPos val="l"/>
        <c:majorGridlines>
          <c:spPr>
            <a:ln w="6350" cap="flat">
              <a:solidFill>
                <a:srgbClr val="2232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DA2B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DA2B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a web app that ingests live market data and news, forecasts price trends, and shows the result as interactive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Three-stage summary: input, prediction engine,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workflow from scope to deployment. Steps overlap in practice; see the timeline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right: sources, Python backend, ML engine, then the JavaScript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features. Alerts and reports are good second-phase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Hardware: any modern laptop is enough for development; deployment needs a small cloud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how the dashboard presents progress and prediction together. Data here is made up for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overlap. A first working prototype (one ticker, one forecast graph) is realistic by about week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start with a one-ticker prototype, then layer on sentiment and real-time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Real-Time Stock Prediction Web App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Workflow, features, requirements and timeline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Built with Python + JavaScript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914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ILLUSTRATIVE FORECAST OUTPUT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94960" y="118872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Are Building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457200" y="1234440"/>
            <a:ext cx="2286000" cy="24688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Input icon badg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nput icon" descr="Inpu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Input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prices, historical data and news headlines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880360" y="2286000"/>
            <a:ext cx="41148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 2"/>
          <p:cNvSpPr/>
          <p:nvPr/>
        </p:nvSpPr>
        <p:spPr>
          <a:xfrm>
            <a:off x="3429000" y="1234440"/>
            <a:ext cx="2286000" cy="24688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Prediction engine icon badge"/>
          <p:cNvSpPr/>
          <p:nvPr/>
        </p:nvSpPr>
        <p:spPr>
          <a:xfrm>
            <a:off x="3657600" y="14630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Prediction engine icon" descr="Prediction eng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021" y="16294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Prediction engine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Time-series forecast plus sentiment scoring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852160" y="2286000"/>
            <a:ext cx="41148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Card 3"/>
          <p:cNvSpPr/>
          <p:nvPr/>
        </p:nvSpPr>
        <p:spPr>
          <a:xfrm>
            <a:off x="6400800" y="1234440"/>
            <a:ext cx="2286000" cy="246888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Output icon badge"/>
          <p:cNvSpPr/>
          <p:nvPr/>
        </p:nvSpPr>
        <p:spPr>
          <a:xfrm>
            <a:off x="6629400" y="14630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Output icon" descr="Outpu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821" y="16294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Output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Interactive graphs with confidence bands</a:t>
            </a:r>
            <a:endParaRPr lang="en-US" sz="1400" dirty="0"/>
          </a:p>
        </p:txBody>
      </p:sp>
      <p:sp>
        <p:nvSpPr>
          <p:cNvPr id="20" name="Goal panel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turn raw market data into a forward-looking graph in seconds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Development Workflow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Define scope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tickers, markets, forecast horizons and data sources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29184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 data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Pull live and historical prices and news; clean and store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12648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models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Prophet / ARIMA forecasts and sentiment scoring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45720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 the API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 results through REST endpoints and WebSockets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4" name="Step number 5"/>
          <p:cNvSpPr/>
          <p:nvPr/>
        </p:nvSpPr>
        <p:spPr>
          <a:xfrm>
            <a:off x="347472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dashboard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Interactive charts, ticker search and CSV upload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612648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9" name="Step number 6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and deploy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Backtest, load-test, containerize and monitor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Layer 1"/>
          <p:cNvSpPr/>
          <p:nvPr/>
        </p:nvSpPr>
        <p:spPr>
          <a:xfrm>
            <a:off x="457200" y="118872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Data sources icon badg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Data sources icon" descr="Data sourc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sources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yfinance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Alpha Vantage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NewsAPI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User CSV files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322576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Layer 2"/>
          <p:cNvSpPr/>
          <p:nvPr/>
        </p:nvSpPr>
        <p:spPr>
          <a:xfrm>
            <a:off x="2587752" y="118872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Python backend icon badge"/>
          <p:cNvSpPr/>
          <p:nvPr/>
        </p:nvSpPr>
        <p:spPr>
          <a:xfrm>
            <a:off x="2770632" y="13716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Python backend icon" descr="Python backen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278" y="15142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70632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backend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70632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FastAPI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WebSockets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pandas / NumPy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SQLite / Redis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4453128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Layer 3"/>
          <p:cNvSpPr/>
          <p:nvPr/>
        </p:nvSpPr>
        <p:spPr>
          <a:xfrm>
            <a:off x="4718304" y="118872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ML engine icon badge"/>
          <p:cNvSpPr/>
          <p:nvPr/>
        </p:nvSpPr>
        <p:spPr>
          <a:xfrm>
            <a:off x="4901184" y="13716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ML engine icon" descr="ML eng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30" y="15142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901184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ML engine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901184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Prophet / ARIMA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scikit-learn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VADER sentiment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Scheduled retraining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6583680" y="2423160"/>
            <a:ext cx="22860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Layer 4"/>
          <p:cNvSpPr/>
          <p:nvPr/>
        </p:nvSpPr>
        <p:spPr>
          <a:xfrm>
            <a:off x="6848856" y="1188720"/>
            <a:ext cx="182880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JS frontend icon badge"/>
          <p:cNvSpPr/>
          <p:nvPr/>
        </p:nvSpPr>
        <p:spPr>
          <a:xfrm>
            <a:off x="7031736" y="13716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JS frontend icon" descr="JS fronten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382" y="15142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3173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JS frontend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031736" y="24688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React or plain JS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Plotly.js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Chart.js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WebSocket client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Prices refresh every few seconds over WebSockets; forecasts re-run on a schedule.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Features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Live price feed icon badg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Live price feed icon" descr="Live price fe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price feed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Streaming quotes refreshed every few seconds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9" name="Forecast horizons icon badge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Forecast horizons icon" descr="Forecast horiz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456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Forecast horizons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1-day to 1-year predictions with confidence bands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6126480" y="11430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News sentiment icon badge"/>
          <p:cNvSpPr/>
          <p:nvPr/>
        </p:nvSpPr>
        <p:spPr>
          <a:xfrm>
            <a:off x="6309360" y="13258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News sentiment icon" descr="News sentime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4566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News sentiment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Headlines scored bullish or bearish per ticker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29718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9" name="Interactive charts icon badge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nteractive charts icon" descr="Interactive chart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8543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Interactive charts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Zoom, compare tickers and toggle indicators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3291840" y="29718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4" name="CSV upload icon badge"/>
          <p:cNvSpPr/>
          <p:nvPr/>
        </p:nvSpPr>
        <p:spPr>
          <a:xfrm>
            <a:off x="3474720" y="31546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CSV upload icon" descr="CSV uploa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479" y="328543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CSV upload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 forecasts on your own price data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6126480" y="297180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9" name="Alerts and reports icon badge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0" name="Alerts and reports icon" descr="Alerts and report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119" y="328543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 and reports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Price and signal alerts, PDF or CSV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Requirements</a:t>
            </a:r>
            <a:endParaRPr lang="en-US" sz="3400" dirty="0"/>
          </a:p>
        </p:txBody>
      </p:sp>
      <p:sp>
        <p:nvSpPr>
          <p:cNvPr id="3" name="Requirements card 1"/>
          <p:cNvSpPr/>
          <p:nvPr/>
        </p:nvSpPr>
        <p:spPr>
          <a:xfrm>
            <a:off x="45720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Python backend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3.10+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+ Uvicorn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pandas, NumPy, scikit-learn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Prophet / statsmodels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yfinance, VADER</a:t>
            </a:r>
            <a:endParaRPr lang="en-US" sz="1400" dirty="0"/>
          </a:p>
        </p:txBody>
      </p:sp>
      <p:sp>
        <p:nvSpPr>
          <p:cNvPr id="6" name="Requirements card 2"/>
          <p:cNvSpPr/>
          <p:nvPr/>
        </p:nvSpPr>
        <p:spPr>
          <a:xfrm>
            <a:off x="329184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JavaScript frontend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Node.js 18+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(or plain JS)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Plotly.js or Chart.js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WebSocket and fetch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CSS or Tailwind</a:t>
            </a:r>
            <a:endParaRPr lang="en-US" sz="1400" dirty="0"/>
          </a:p>
        </p:txBody>
      </p:sp>
      <p:sp>
        <p:nvSpPr>
          <p:cNvPr id="9" name="Requirements card 3"/>
          <p:cNvSpPr/>
          <p:nvPr/>
        </p:nvSpPr>
        <p:spPr>
          <a:xfrm>
            <a:off x="6126480" y="114300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Data and infra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Market data API key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NewsAPI key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 or PostgreSQL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Redis cache (optional)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Git, Docker, cloud host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Output: Forecast Graph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Illustrative sample data</a:t>
            </a:r>
            <a:endParaRPr lang="en-US" sz="1000" dirty="0"/>
          </a:p>
        </p:txBody>
      </p:sp>
      <p:sp>
        <p:nvSpPr>
          <p:cNvPr id="5" name="Legend card 1"/>
          <p:cNvSpPr/>
          <p:nvPr/>
        </p:nvSpPr>
        <p:spPr>
          <a:xfrm>
            <a:off x="6217920" y="114300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0" y="11430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Solid line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Historical prices from the live feed</a:t>
            </a:r>
            <a:endParaRPr lang="en-US" sz="1600" dirty="0"/>
          </a:p>
        </p:txBody>
      </p:sp>
      <p:sp>
        <p:nvSpPr>
          <p:cNvPr id="7" name="Legend card 2"/>
          <p:cNvSpPr/>
          <p:nvPr/>
        </p:nvSpPr>
        <p:spPr>
          <a:xfrm>
            <a:off x="6217920" y="224028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0" y="22402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Dashed line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forecast for the chosen horizon</a:t>
            </a:r>
            <a:endParaRPr lang="en-US" sz="1600" dirty="0"/>
          </a:p>
        </p:txBody>
      </p:sp>
      <p:sp>
        <p:nvSpPr>
          <p:cNvPr id="9" name="Legend card 3"/>
          <p:cNvSpPr/>
          <p:nvPr/>
        </p:nvSpPr>
        <p:spPr>
          <a:xfrm>
            <a:off x="6217920" y="333756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33375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Dotted lines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95% confidence band showing uncertainty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Estimated Timeline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32232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81000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536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7304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4840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3608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1144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99120" y="1097280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Week</a:t>
            </a:r>
            <a:endParaRPr lang="en-US" sz="1000" dirty="0"/>
          </a:p>
        </p:txBody>
      </p:sp>
      <p:sp>
        <p:nvSpPr>
          <p:cNvPr id="16" name="Row band 1"/>
          <p:cNvSpPr/>
          <p:nvPr/>
        </p:nvSpPr>
        <p:spPr>
          <a:xfrm>
            <a:off x="457200" y="1444752"/>
            <a:ext cx="8229600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1463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Planning and setup</a:t>
            </a:r>
            <a:endParaRPr lang="en-US" sz="1400" dirty="0"/>
          </a:p>
        </p:txBody>
      </p:sp>
      <p:sp>
        <p:nvSpPr>
          <p:cNvPr id="18" name="Bar Planning and setup"/>
          <p:cNvSpPr/>
          <p:nvPr/>
        </p:nvSpPr>
        <p:spPr>
          <a:xfrm>
            <a:off x="2862072" y="1508760"/>
            <a:ext cx="432816" cy="256032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1874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ingestion</a:t>
            </a:r>
            <a:endParaRPr lang="en-US" sz="1400" dirty="0"/>
          </a:p>
        </p:txBody>
      </p:sp>
      <p:sp>
        <p:nvSpPr>
          <p:cNvPr id="20" name="Bar Data ingestion"/>
          <p:cNvSpPr/>
          <p:nvPr/>
        </p:nvSpPr>
        <p:spPr>
          <a:xfrm>
            <a:off x="3349752" y="1920240"/>
            <a:ext cx="920496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21" name="Row band 3"/>
          <p:cNvSpPr/>
          <p:nvPr/>
        </p:nvSpPr>
        <p:spPr>
          <a:xfrm>
            <a:off x="457200" y="2267712"/>
            <a:ext cx="8229600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2286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 models</a:t>
            </a:r>
            <a:endParaRPr lang="en-US" sz="1400" dirty="0"/>
          </a:p>
        </p:txBody>
      </p:sp>
      <p:sp>
        <p:nvSpPr>
          <p:cNvPr id="23" name="Bar ML models"/>
          <p:cNvSpPr/>
          <p:nvPr/>
        </p:nvSpPr>
        <p:spPr>
          <a:xfrm>
            <a:off x="3837432" y="2331720"/>
            <a:ext cx="1895856" cy="256032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25" name="Bar Backend API"/>
          <p:cNvSpPr/>
          <p:nvPr/>
        </p:nvSpPr>
        <p:spPr>
          <a:xfrm>
            <a:off x="4812792" y="2743200"/>
            <a:ext cx="1408176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26" name="Row band 5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Frontend dashboard</a:t>
            </a:r>
            <a:endParaRPr lang="en-US" sz="1400" dirty="0"/>
          </a:p>
        </p:txBody>
      </p:sp>
      <p:sp>
        <p:nvSpPr>
          <p:cNvPr id="28" name="Bar Frontend dashboard"/>
          <p:cNvSpPr/>
          <p:nvPr/>
        </p:nvSpPr>
        <p:spPr>
          <a:xfrm>
            <a:off x="5300472" y="3154680"/>
            <a:ext cx="2383536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520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Real-time integration</a:t>
            </a:r>
            <a:endParaRPr lang="en-US" sz="1400" dirty="0"/>
          </a:p>
        </p:txBody>
      </p:sp>
      <p:sp>
        <p:nvSpPr>
          <p:cNvPr id="30" name="Bar Real-time integration"/>
          <p:cNvSpPr/>
          <p:nvPr/>
        </p:nvSpPr>
        <p:spPr>
          <a:xfrm>
            <a:off x="6763512" y="3566160"/>
            <a:ext cx="1408176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/>
        </p:spPr>
      </p:sp>
      <p:sp>
        <p:nvSpPr>
          <p:cNvPr id="31" name="Row band 7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3931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Testing and deployment</a:t>
            </a:r>
            <a:endParaRPr lang="en-US" sz="1400" dirty="0"/>
          </a:p>
        </p:txBody>
      </p:sp>
      <p:sp>
        <p:nvSpPr>
          <p:cNvPr id="33" name="Bar Testing and deployment"/>
          <p:cNvSpPr/>
          <p:nvPr/>
        </p:nvSpPr>
        <p:spPr>
          <a:xfrm>
            <a:off x="7738872" y="3977640"/>
            <a:ext cx="920496" cy="256032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/>
        </p:spPr>
      </p:sp>
      <p:sp>
        <p:nvSpPr>
          <p:cNvPr id="34" name="Total panel"/>
          <p:cNvSpPr/>
          <p:nvPr/>
        </p:nvSpPr>
        <p:spPr>
          <a:xfrm>
            <a:off x="457200" y="4434840"/>
            <a:ext cx="82296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~12 weeks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solo   | 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~6 to 8 weeks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a team of 3 to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Risks and Next Steps</a:t>
            </a:r>
            <a:endParaRPr lang="en-US" sz="3400" dirty="0"/>
          </a:p>
        </p:txBody>
      </p:sp>
      <p:sp>
        <p:nvSpPr>
          <p:cNvPr id="3" name="Risks panel"/>
          <p:cNvSpPr/>
          <p:nvPr/>
        </p:nvSpPr>
        <p:spPr>
          <a:xfrm>
            <a:off x="457200" y="1143000"/>
            <a:ext cx="402336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Watch-outs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Rate limits: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cache and batch API calls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Accuracy: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backtest and show confidence bands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Latency: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use async API and WebSockets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Compliance: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educational-use disclaimer</a:t>
            </a:r>
            <a:endParaRPr lang="en-US" sz="1400" dirty="0"/>
          </a:p>
        </p:txBody>
      </p:sp>
      <p:sp>
        <p:nvSpPr>
          <p:cNvPr id="6" name="Next steps panel"/>
          <p:cNvSpPr/>
          <p:nvPr/>
        </p:nvSpPr>
        <p:spPr>
          <a:xfrm>
            <a:off x="4663440" y="1143000"/>
            <a:ext cx="402336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Choose data APIs and tickers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Prototype a one-ticker forecast in Python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Wire the API to a basic chart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Add sentiment and live updates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Forecasts are educational estimates, not financial advice.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Pulse Dark">
  <a:themeElements>
    <a:clrScheme name="QuantPulse Dark">
      <a:dk1>
        <a:srgbClr val="E6EDF7"/>
      </a:dk1>
      <a:lt1>
        <a:srgbClr val="0B1220"/>
      </a:lt1>
      <a:dk2>
        <a:srgbClr val="8DA2BF"/>
      </a:dk2>
      <a:lt2>
        <a:srgbClr val="142038"/>
      </a:lt2>
      <a:accent1>
        <a:srgbClr val="22D3EE"/>
      </a:accent1>
      <a:accent2>
        <a:srgbClr val="34D399"/>
      </a:accent2>
      <a:accent3>
        <a:srgbClr val="F59E0B"/>
      </a:accent3>
      <a:accent4>
        <a:srgbClr val="A78BFA"/>
      </a:accent4>
      <a:accent5>
        <a:srgbClr val="F87171"/>
      </a:accent5>
      <a:accent6>
        <a:srgbClr val="60A5FA"/>
      </a:accent6>
      <a:hlink>
        <a:srgbClr val="22D3EE"/>
      </a:hlink>
      <a:folHlink>
        <a:srgbClr val="A78BFA"/>
      </a:folHlink>
    </a:clrScheme>
    <a:fontScheme name="QuantPulse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Stock Prediction Web App</dc:title>
  <dc:subject>PptxGenJS Presentation</dc:subject>
  <dc:creator>PptxGenJS</dc:creator>
  <cp:lastModifiedBy>PptxGenJS</cp:lastModifiedBy>
  <cp:revision>1</cp:revision>
  <dcterms:created xsi:type="dcterms:W3CDTF">2026-10-28T05:15:06Z</dcterms:created>
  <dcterms:modified xsi:type="dcterms:W3CDTF">2026-10-28T05:15:06Z</dcterms:modified>
</cp:coreProperties>
</file>